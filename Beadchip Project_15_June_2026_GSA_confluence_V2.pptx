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269" r:id="rId4"/>
    <p:sldId id="304" r:id="rId5"/>
    <p:sldId id="306" r:id="rId6"/>
    <p:sldId id="259" r:id="rId7"/>
    <p:sldId id="260" r:id="rId8"/>
    <p:sldId id="263" r:id="rId9"/>
    <p:sldId id="261" r:id="rId10"/>
    <p:sldId id="262" r:id="rId11"/>
    <p:sldId id="264" r:id="rId12"/>
    <p:sldId id="270" r:id="rId13"/>
    <p:sldId id="266" r:id="rId14"/>
    <p:sldId id="267" r:id="rId15"/>
    <p:sldId id="274" r:id="rId16"/>
    <p:sldId id="276" r:id="rId17"/>
    <p:sldId id="280" r:id="rId18"/>
    <p:sldId id="281" r:id="rId19"/>
    <p:sldId id="282" r:id="rId20"/>
    <p:sldId id="279" r:id="rId21"/>
    <p:sldId id="283" r:id="rId22"/>
    <p:sldId id="284" r:id="rId23"/>
    <p:sldId id="285" r:id="rId24"/>
    <p:sldId id="288" r:id="rId25"/>
    <p:sldId id="287" r:id="rId26"/>
    <p:sldId id="289" r:id="rId27"/>
    <p:sldId id="290" r:id="rId28"/>
    <p:sldId id="294" r:id="rId29"/>
    <p:sldId id="295" r:id="rId30"/>
    <p:sldId id="291" r:id="rId31"/>
    <p:sldId id="292" r:id="rId32"/>
    <p:sldId id="293" r:id="rId33"/>
    <p:sldId id="296" r:id="rId34"/>
    <p:sldId id="299" r:id="rId35"/>
    <p:sldId id="300" r:id="rId36"/>
    <p:sldId id="297" r:id="rId37"/>
    <p:sldId id="298" r:id="rId38"/>
    <p:sldId id="301" r:id="rId39"/>
    <p:sldId id="30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393A-55EB-19DC-70E9-7B5B167A0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94F4E2-15B9-7A5C-B1C0-E680BC476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0594-EA2F-D244-C48B-67834533D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3613B-E477-B8C2-527D-B75C7CF1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07A7D-A40C-6FCD-CDE4-684E5F6B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2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6CC3-8612-5A28-BF8A-CEA2F3C2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9898-B2FC-21E3-53F8-3586F3667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4DC0-C68D-8CA1-6B6E-2271088D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B6B8C-ABCC-7E44-F577-3357838C4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5B93B-33BA-7020-A5EF-E751A0AEE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427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3B4CE-79D8-06F9-4A4B-FAE0FDEEC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CFDD0-02BB-2179-42E6-D8E92F68E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59D24-7330-63EE-DD54-2623E2262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B5BC-E2F1-80E2-E46A-A8182666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C15A9-A14D-60BF-DFBE-03EBF718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06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BA139-66C2-41A9-C757-2BB1F04D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8D6DF-DAB1-8720-EEAD-CF110B269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D5B97-FE58-B4FF-A44A-963B8CF0B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FB6BF-ECA0-83D9-9C15-4A8B7214D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83FB2-E55E-C7EE-F634-0E6577A89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D8DD3-F229-22C3-1037-26A3FC2C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953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8A08-EA3C-621E-9BA1-625F324ED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56242-EEFE-0B6F-9D1A-AC043F6EE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D43BE-BDFA-14C9-A661-D3F1127C3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F9A04D-35E9-70CD-6C43-AC1FE297D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F6292F-255A-90C3-8153-B19C9F5EA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B8249A-681D-7DB5-C555-6713B7C1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718F8D-41AF-D1BD-04EF-E582F144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545357-E96F-50B3-71B0-0BFB0AAA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127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D4231-BA39-E936-D2AF-821FC6EB8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D5B97D-C615-A280-333C-314E7A56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6F4CC-6BF6-22A3-8681-E5C3CEE8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973F1-9193-5453-0A14-75BD293E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4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EA4196-E22F-F1A1-BBE9-9C12F687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ECE7DE-BC00-79A6-2E16-54B0FFEBC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5A32B-F0E4-8FCC-F632-6F6426B4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55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A90A-1BA3-8275-20B7-2BB48E876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94F3B-E70E-D748-EAED-B21301009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F8002-54F5-00ED-ED0B-AC2D4286E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7F565-7E7B-31DD-8AF5-623F25FE9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79B1A-790D-BEDD-592B-99859AC0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175D1-FEAC-6C89-BC63-133028BA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01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5312-8074-A719-1666-59DC54AD7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B0CECC-B2BD-EA14-4AF1-AAF6856B2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A567C-A564-38F7-D292-A5D523FCD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396E7-CF4D-51E9-CB97-7073C191D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8E366-D886-56FA-4984-560A38D0E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B8AD1-97B5-08B3-CE6B-930C7852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13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CC22-29A9-B1B6-02DC-FA9AA9BB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ACD1D-39B6-2898-D53C-F59CEB831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F6821-7DEF-8242-0A83-4E0D8CE13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D5840-3FBB-1154-EB7B-617717ED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D2CE9-A173-F1FF-71BE-A138BD453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85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0D9D2A-4565-C42F-2544-3957FFB1E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18713-F310-AE88-A1B5-443BC73A7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1D5E6-5EAD-67A1-8E36-A32AE89B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FAFCD-190C-9484-9662-12F39FD2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66CA7-B30A-CBC0-5668-FBF21F78F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71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5230F-4CC1-A47C-5B45-896B004D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63729-BA55-BEA9-470E-4412C9047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02D04-A7A2-BC69-8AAD-11D74CCD7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F4F54-8D9A-4577-AA3E-DA824B7102C4}" type="datetimeFigureOut">
              <a:rPr lang="en-IN" smtClean="0"/>
              <a:t>10/08/2026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B9D1B-6447-0CB7-D76B-3F9F1A1BF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4BB0E-5D89-4C8C-6F84-C29CDE71D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B4667-82B6-43B1-9016-A77F9A1AA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30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ebdata.illumina.com/downloads/productfiles/microarray-analytics-array/GRCh37_genome.zip" TargetMode="External"/><Relationship Id="rId2" Type="http://schemas.openxmlformats.org/officeDocument/2006/relationships/hyperlink" Target="https://premaslifesciences1-my.sharepoint.com/personal/kamal_premaslifesciences_com/_layouts/15/onedrive.aspx?id=%2Fpersonal%2Fkamal%5Fpremaslifesciences%5Fcom%2FDocuments%2FConfluence%20manifest%20buid%2037%2Ezip&amp;parent=%2Fpersonal%2Fkamal%5Fpremaslifesciences%5Fcom%2FDocuments&amp;ga=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dragenarray.illumina.com/product-guides/dragen-array-local-analysis" TargetMode="External"/><Relationship Id="rId2" Type="http://schemas.openxmlformats.org/officeDocument/2006/relationships/hyperlink" Target="https://help.dragenarray.illumina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illumina.com/array/array_software/dragen-array-secondary-analysis/downloads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ebdata.illumina.com/downloads/productfiles/microarray-analytics-array/GRCh37_genome.zip" TargetMode="External"/><Relationship Id="rId2" Type="http://schemas.openxmlformats.org/officeDocument/2006/relationships/hyperlink" Target="https://support.illumina.com/array/array_software/dragen-array-secondary-analysis/downloads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data.illumina.com/downloads/ProductFiles/HumanOmniExpress-24/v1-0/HumanOmniExpress-24-v1-0-B.csv" TargetMode="External"/><Relationship Id="rId2" Type="http://schemas.openxmlformats.org/officeDocument/2006/relationships/hyperlink" Target="https://support.illumina.com/downloads/humanomniexpress-24-v1-0-product-files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aculty.washington.edu/browning/conform-gt.html" TargetMode="External"/><Relationship Id="rId2" Type="http://schemas.openxmlformats.org/officeDocument/2006/relationships/hyperlink" Target="https://faculty.washington.edu/browning/conform-gt/conform-gt.24May16.cee.jar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faculty.washington.edu/browning/beagle/beagle.html" TargetMode="External"/><Relationship Id="rId2" Type="http://schemas.openxmlformats.org/officeDocument/2006/relationships/hyperlink" Target="https://faculty.washington.edu/browning/beagle/beagle.27Feb25.75f.jar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mtools/bcftools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D3A7-9294-7749-84C4-A5A5D6F84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Beadchip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Project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631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DF08E-AD60-42A7-5D71-008E82A4D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Bead-chip Information:-</a:t>
            </a:r>
            <a:endParaRPr lang="en-IN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819590-4FB7-8A13-8251-1ABFF2B735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8301462"/>
              </p:ext>
            </p:extLst>
          </p:nvPr>
        </p:nvGraphicFramePr>
        <p:xfrm>
          <a:off x="1322832" y="1800416"/>
          <a:ext cx="9713977" cy="278685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48100">
                  <a:extLst>
                    <a:ext uri="{9D8B030D-6E8A-4147-A177-3AD203B41FA5}">
                      <a16:colId xmlns:a16="http://schemas.microsoft.com/office/drawing/2014/main" val="4008672586"/>
                    </a:ext>
                  </a:extLst>
                </a:gridCol>
                <a:gridCol w="3148099">
                  <a:extLst>
                    <a:ext uri="{9D8B030D-6E8A-4147-A177-3AD203B41FA5}">
                      <a16:colId xmlns:a16="http://schemas.microsoft.com/office/drawing/2014/main" val="3253396103"/>
                    </a:ext>
                  </a:extLst>
                </a:gridCol>
                <a:gridCol w="1158404">
                  <a:extLst>
                    <a:ext uri="{9D8B030D-6E8A-4147-A177-3AD203B41FA5}">
                      <a16:colId xmlns:a16="http://schemas.microsoft.com/office/drawing/2014/main" val="1793758404"/>
                    </a:ext>
                  </a:extLst>
                </a:gridCol>
                <a:gridCol w="3584542">
                  <a:extLst>
                    <a:ext uri="{9D8B030D-6E8A-4147-A177-3AD203B41FA5}">
                      <a16:colId xmlns:a16="http://schemas.microsoft.com/office/drawing/2014/main" val="1810155188"/>
                    </a:ext>
                  </a:extLst>
                </a:gridCol>
                <a:gridCol w="1274832">
                  <a:extLst>
                    <a:ext uri="{9D8B030D-6E8A-4147-A177-3AD203B41FA5}">
                      <a16:colId xmlns:a16="http://schemas.microsoft.com/office/drawing/2014/main" val="414240310"/>
                    </a:ext>
                  </a:extLst>
                </a:gridCol>
              </a:tblGrid>
              <a:tr h="557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Sr. No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Bead-chip 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Markers Approx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 of .bpm file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Folder name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63781558"/>
                  </a:ext>
                </a:extLst>
              </a:tr>
              <a:tr h="557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Infinium Global Screening Array-24 v3.0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654027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GSA-24v3-0_A1.bpm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dirty="0" err="1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GSA_final_data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1398344"/>
                  </a:ext>
                </a:extLst>
              </a:tr>
              <a:tr h="557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HumanOmniExpress-24 version 1.1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713014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HumanOmniExpress-24-v1-0-B.bpm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GBC_final_data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195449"/>
                  </a:ext>
                </a:extLst>
              </a:tr>
              <a:tr h="11147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Global screening array-24 + v3.0 HTS NCI custom booster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654027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GSAv3Confluence_20032937X371431_A1.bpm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dirty="0" err="1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BRC_final_data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827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0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308C0-1FF6-245A-1065-EEE251D4D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08B87-2CC0-4E08-D920-5196CABA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974725"/>
            <a:ext cx="1156716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Files required for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Global screening array-24 + v3.0 HTS NCI custom booster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:-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4D7CB-55D3-5E61-62F9-436B1AB5C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4681"/>
            <a:ext cx="10515600" cy="2089150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Array Manifest file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GSAv3Confluence_20032937X371431_A2.bpm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Cluster file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– GSAv3Confluence_Final_v3.egt</a:t>
            </a:r>
          </a:p>
          <a:p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Annotation Manifest file </a:t>
            </a:r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GSAv3Confluence_20032937X371431_A2.csv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Reference Genome fasta file </a:t>
            </a:r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GRCh37_genome.fa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Sample sheet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- .csv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90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0C22D-BF34-A39B-9E55-C032569F5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898777"/>
            <a:ext cx="10515600" cy="4351338"/>
          </a:xfrm>
        </p:spPr>
        <p:txBody>
          <a:bodyPr/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Array: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Global Screening Array-24 v3.0 HTS NCI Custom Booster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Original genome build: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GRCh38 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Converted to: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GRCh37 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Reference manifest files used to conversion: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	  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	-&gt; GSAv3Confluence_20032937X371431_A2.bpm 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	-&gt; GSAv3Confluence_20032937X371431_A2.csv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DFC83-C0C5-EA59-D5F4-6FF348C9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380365"/>
            <a:ext cx="1156716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Genotyping Array and Reference Genome Information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:-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282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DD9369-AF41-EE14-55F9-83DE1C2A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72" y="91440"/>
            <a:ext cx="10515600" cy="748856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Work Flow :-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454CB8-3C5B-4C6E-E651-D44833FF9914}"/>
              </a:ext>
            </a:extLst>
          </p:cNvPr>
          <p:cNvSpPr/>
          <p:nvPr/>
        </p:nvSpPr>
        <p:spPr>
          <a:xfrm>
            <a:off x="431292" y="1090843"/>
            <a:ext cx="1341120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IDAT Files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E403621-299B-EACE-DE98-7EE4A62D0155}"/>
              </a:ext>
            </a:extLst>
          </p:cNvPr>
          <p:cNvSpPr/>
          <p:nvPr/>
        </p:nvSpPr>
        <p:spPr>
          <a:xfrm>
            <a:off x="1969338" y="1151231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0981F5-7459-5467-0838-649A63501CC1}"/>
              </a:ext>
            </a:extLst>
          </p:cNvPr>
          <p:cNvSpPr/>
          <p:nvPr/>
        </p:nvSpPr>
        <p:spPr>
          <a:xfrm>
            <a:off x="2596032" y="1107559"/>
            <a:ext cx="2401494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IDAT TO GTC Conversion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5A58FF5-E1F5-DA15-7003-0DADA0FF213C}"/>
              </a:ext>
            </a:extLst>
          </p:cNvPr>
          <p:cNvSpPr/>
          <p:nvPr/>
        </p:nvSpPr>
        <p:spPr>
          <a:xfrm>
            <a:off x="5176164" y="1169519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CB7D52-6D0F-E646-1C70-AD089CE7988B}"/>
              </a:ext>
            </a:extLst>
          </p:cNvPr>
          <p:cNvSpPr/>
          <p:nvPr/>
        </p:nvSpPr>
        <p:spPr>
          <a:xfrm>
            <a:off x="5784570" y="1099987"/>
            <a:ext cx="2401494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GTC TO VCF Conversion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6A01E66-387D-C539-0159-A45D83B7EF91}"/>
              </a:ext>
            </a:extLst>
          </p:cNvPr>
          <p:cNvSpPr/>
          <p:nvPr/>
        </p:nvSpPr>
        <p:spPr>
          <a:xfrm>
            <a:off x="8364702" y="1151231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FFAD0E-0CE7-9982-073F-9CE6A8714829}"/>
              </a:ext>
            </a:extLst>
          </p:cNvPr>
          <p:cNvSpPr/>
          <p:nvPr/>
        </p:nvSpPr>
        <p:spPr>
          <a:xfrm>
            <a:off x="8939784" y="1107559"/>
            <a:ext cx="1673352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VCF Merge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418680C-704B-53B2-620B-B178B6AB0266}"/>
              </a:ext>
            </a:extLst>
          </p:cNvPr>
          <p:cNvSpPr/>
          <p:nvPr/>
        </p:nvSpPr>
        <p:spPr>
          <a:xfrm>
            <a:off x="8939785" y="2743107"/>
            <a:ext cx="2916936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VCF TO PLINK BED Conversion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D8E4700-5ECC-6EB5-C048-9624730E4C30}"/>
              </a:ext>
            </a:extLst>
          </p:cNvPr>
          <p:cNvSpPr/>
          <p:nvPr/>
        </p:nvSpPr>
        <p:spPr>
          <a:xfrm rot="5400000">
            <a:off x="10101802" y="2142417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07DEFE2-4124-ABDE-BFF1-B1D99FD5BA57}"/>
              </a:ext>
            </a:extLst>
          </p:cNvPr>
          <p:cNvSpPr/>
          <p:nvPr/>
        </p:nvSpPr>
        <p:spPr>
          <a:xfrm rot="10800000">
            <a:off x="8308848" y="2830451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6C56CD-F477-1ADA-99BB-1B67CAB2F197}"/>
              </a:ext>
            </a:extLst>
          </p:cNvPr>
          <p:cNvSpPr/>
          <p:nvPr/>
        </p:nvSpPr>
        <p:spPr>
          <a:xfrm>
            <a:off x="6434327" y="2743107"/>
            <a:ext cx="1673352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Quality Control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086F785D-2B54-75CF-40E2-F677B9EE9DDB}"/>
              </a:ext>
            </a:extLst>
          </p:cNvPr>
          <p:cNvSpPr/>
          <p:nvPr/>
        </p:nvSpPr>
        <p:spPr>
          <a:xfrm rot="10800000">
            <a:off x="5808954" y="2825215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462C75-186B-6AC8-E3D0-A1813EBE911C}"/>
              </a:ext>
            </a:extLst>
          </p:cNvPr>
          <p:cNvSpPr/>
          <p:nvPr/>
        </p:nvSpPr>
        <p:spPr>
          <a:xfrm>
            <a:off x="3520439" y="2750447"/>
            <a:ext cx="2092909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Relatedness Analysis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8012916-EA88-ECF8-5609-20FEC27F77A4}"/>
              </a:ext>
            </a:extLst>
          </p:cNvPr>
          <p:cNvSpPr/>
          <p:nvPr/>
        </p:nvSpPr>
        <p:spPr>
          <a:xfrm>
            <a:off x="207264" y="2737871"/>
            <a:ext cx="2481068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PCA &amp; Outlier Removal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20F9B11-6421-60F9-3224-61312084B053}"/>
              </a:ext>
            </a:extLst>
          </p:cNvPr>
          <p:cNvSpPr/>
          <p:nvPr/>
        </p:nvSpPr>
        <p:spPr>
          <a:xfrm rot="10800000">
            <a:off x="2889502" y="2781543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1120822-C398-E879-2008-0BF38D0B1215}"/>
              </a:ext>
            </a:extLst>
          </p:cNvPr>
          <p:cNvSpPr/>
          <p:nvPr/>
        </p:nvSpPr>
        <p:spPr>
          <a:xfrm>
            <a:off x="207264" y="4386133"/>
            <a:ext cx="2388768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Chromosome-wise Split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E341465F-64DB-D540-ED0C-7AE5B767FA06}"/>
              </a:ext>
            </a:extLst>
          </p:cNvPr>
          <p:cNvSpPr/>
          <p:nvPr/>
        </p:nvSpPr>
        <p:spPr>
          <a:xfrm rot="5400000">
            <a:off x="1186764" y="3771053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E0612C82-08E8-B2BF-876E-2C5FBFBC24C7}"/>
              </a:ext>
            </a:extLst>
          </p:cNvPr>
          <p:cNvSpPr/>
          <p:nvPr/>
        </p:nvSpPr>
        <p:spPr>
          <a:xfrm>
            <a:off x="2793159" y="4427381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6B1BAF2-B80E-C2D7-0694-F24A1C0E0C3B}"/>
              </a:ext>
            </a:extLst>
          </p:cNvPr>
          <p:cNvSpPr/>
          <p:nvPr/>
        </p:nvSpPr>
        <p:spPr>
          <a:xfrm>
            <a:off x="3418002" y="4386133"/>
            <a:ext cx="2264132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Conform-GT Alignment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BD8670D-1D9C-FE69-8324-43DB76BC4EBD}"/>
              </a:ext>
            </a:extLst>
          </p:cNvPr>
          <p:cNvSpPr/>
          <p:nvPr/>
        </p:nvSpPr>
        <p:spPr>
          <a:xfrm>
            <a:off x="5877209" y="4427381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3DF3E1B-8C5C-A314-7CEC-F08EC0AE9E0A}"/>
              </a:ext>
            </a:extLst>
          </p:cNvPr>
          <p:cNvSpPr/>
          <p:nvPr/>
        </p:nvSpPr>
        <p:spPr>
          <a:xfrm>
            <a:off x="6502052" y="4386133"/>
            <a:ext cx="1862650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Beagle Imputation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3CAF815-3C06-2A55-5BA7-F612741D5275}"/>
              </a:ext>
            </a:extLst>
          </p:cNvPr>
          <p:cNvSpPr/>
          <p:nvPr/>
        </p:nvSpPr>
        <p:spPr>
          <a:xfrm>
            <a:off x="8559777" y="4413698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4EB439C-1C65-280A-5975-EE19A99D9963}"/>
              </a:ext>
            </a:extLst>
          </p:cNvPr>
          <p:cNvSpPr/>
          <p:nvPr/>
        </p:nvSpPr>
        <p:spPr>
          <a:xfrm>
            <a:off x="9184620" y="4387296"/>
            <a:ext cx="2264132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Post-Imputation QC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3117D9F8-1390-0AA8-BC6F-A80A9AEA1856}"/>
              </a:ext>
            </a:extLst>
          </p:cNvPr>
          <p:cNvSpPr/>
          <p:nvPr/>
        </p:nvSpPr>
        <p:spPr>
          <a:xfrm rot="5400000">
            <a:off x="10126916" y="5607776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61EE910-D2CC-0C42-5742-1F70C9DFED4B}"/>
              </a:ext>
            </a:extLst>
          </p:cNvPr>
          <p:cNvSpPr/>
          <p:nvPr/>
        </p:nvSpPr>
        <p:spPr>
          <a:xfrm>
            <a:off x="9289056" y="6144609"/>
            <a:ext cx="2264132" cy="37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Final Imputed Dataset</a:t>
            </a:r>
          </a:p>
        </p:txBody>
      </p:sp>
      <p:sp>
        <p:nvSpPr>
          <p:cNvPr id="45" name="Flowchart: Terminator 44">
            <a:extLst>
              <a:ext uri="{FF2B5EF4-FFF2-40B4-BE49-F238E27FC236}">
                <a16:creationId xmlns:a16="http://schemas.microsoft.com/office/drawing/2014/main" id="{C4858AD2-D8A8-BC17-ABFC-B9C9B6A6572D}"/>
              </a:ext>
            </a:extLst>
          </p:cNvPr>
          <p:cNvSpPr/>
          <p:nvPr/>
        </p:nvSpPr>
        <p:spPr>
          <a:xfrm>
            <a:off x="431292" y="840298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8" name="Flowchart: Terminator 47">
            <a:extLst>
              <a:ext uri="{FF2B5EF4-FFF2-40B4-BE49-F238E27FC236}">
                <a16:creationId xmlns:a16="http://schemas.microsoft.com/office/drawing/2014/main" id="{86AA12DE-DF5A-ACCA-BF48-F6662ED4A5C5}"/>
              </a:ext>
            </a:extLst>
          </p:cNvPr>
          <p:cNvSpPr/>
          <p:nvPr/>
        </p:nvSpPr>
        <p:spPr>
          <a:xfrm>
            <a:off x="2584701" y="840298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Flowchart: Terminator 48">
            <a:extLst>
              <a:ext uri="{FF2B5EF4-FFF2-40B4-BE49-F238E27FC236}">
                <a16:creationId xmlns:a16="http://schemas.microsoft.com/office/drawing/2014/main" id="{7104D202-753B-6D92-3280-DF55614BBD80}"/>
              </a:ext>
            </a:extLst>
          </p:cNvPr>
          <p:cNvSpPr/>
          <p:nvPr/>
        </p:nvSpPr>
        <p:spPr>
          <a:xfrm>
            <a:off x="5759424" y="840297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0" name="Flowchart: Terminator 49">
            <a:extLst>
              <a:ext uri="{FF2B5EF4-FFF2-40B4-BE49-F238E27FC236}">
                <a16:creationId xmlns:a16="http://schemas.microsoft.com/office/drawing/2014/main" id="{E981EBC2-B633-2094-4E4D-E97E445D161E}"/>
              </a:ext>
            </a:extLst>
          </p:cNvPr>
          <p:cNvSpPr/>
          <p:nvPr/>
        </p:nvSpPr>
        <p:spPr>
          <a:xfrm>
            <a:off x="8920206" y="840296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1" name="Flowchart: Terminator 50">
            <a:extLst>
              <a:ext uri="{FF2B5EF4-FFF2-40B4-BE49-F238E27FC236}">
                <a16:creationId xmlns:a16="http://schemas.microsoft.com/office/drawing/2014/main" id="{114E38DB-D723-6C80-A4E6-961F20C41671}"/>
              </a:ext>
            </a:extLst>
          </p:cNvPr>
          <p:cNvSpPr/>
          <p:nvPr/>
        </p:nvSpPr>
        <p:spPr>
          <a:xfrm>
            <a:off x="207264" y="2476691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52" name="Flowchart: Terminator 51">
            <a:extLst>
              <a:ext uri="{FF2B5EF4-FFF2-40B4-BE49-F238E27FC236}">
                <a16:creationId xmlns:a16="http://schemas.microsoft.com/office/drawing/2014/main" id="{ED4C021B-8AED-1F57-CA44-7DDA4566E1F7}"/>
              </a:ext>
            </a:extLst>
          </p:cNvPr>
          <p:cNvSpPr/>
          <p:nvPr/>
        </p:nvSpPr>
        <p:spPr>
          <a:xfrm>
            <a:off x="3532365" y="2476690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53" name="Flowchart: Terminator 52">
            <a:extLst>
              <a:ext uri="{FF2B5EF4-FFF2-40B4-BE49-F238E27FC236}">
                <a16:creationId xmlns:a16="http://schemas.microsoft.com/office/drawing/2014/main" id="{C1BB0F67-3967-4188-456C-D60D4BCDCE53}"/>
              </a:ext>
            </a:extLst>
          </p:cNvPr>
          <p:cNvSpPr/>
          <p:nvPr/>
        </p:nvSpPr>
        <p:spPr>
          <a:xfrm>
            <a:off x="6434327" y="2482951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54" name="Flowchart: Terminator 53">
            <a:extLst>
              <a:ext uri="{FF2B5EF4-FFF2-40B4-BE49-F238E27FC236}">
                <a16:creationId xmlns:a16="http://schemas.microsoft.com/office/drawing/2014/main" id="{9CB8F152-4977-2D57-2ACC-35DAC68BAC01}"/>
              </a:ext>
            </a:extLst>
          </p:cNvPr>
          <p:cNvSpPr/>
          <p:nvPr/>
        </p:nvSpPr>
        <p:spPr>
          <a:xfrm>
            <a:off x="8939784" y="2476689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5" name="Flowchart: Terminator 54">
            <a:extLst>
              <a:ext uri="{FF2B5EF4-FFF2-40B4-BE49-F238E27FC236}">
                <a16:creationId xmlns:a16="http://schemas.microsoft.com/office/drawing/2014/main" id="{FA2BE077-2047-7583-DB00-4A7307453B5E}"/>
              </a:ext>
            </a:extLst>
          </p:cNvPr>
          <p:cNvSpPr/>
          <p:nvPr/>
        </p:nvSpPr>
        <p:spPr>
          <a:xfrm>
            <a:off x="207264" y="4131145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56" name="Flowchart: Terminator 55">
            <a:extLst>
              <a:ext uri="{FF2B5EF4-FFF2-40B4-BE49-F238E27FC236}">
                <a16:creationId xmlns:a16="http://schemas.microsoft.com/office/drawing/2014/main" id="{64901383-6C58-C0E4-71C9-549AE5F80AFC}"/>
              </a:ext>
            </a:extLst>
          </p:cNvPr>
          <p:cNvSpPr/>
          <p:nvPr/>
        </p:nvSpPr>
        <p:spPr>
          <a:xfrm>
            <a:off x="3390570" y="4131145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57" name="Flowchart: Terminator 56">
            <a:extLst>
              <a:ext uri="{FF2B5EF4-FFF2-40B4-BE49-F238E27FC236}">
                <a16:creationId xmlns:a16="http://schemas.microsoft.com/office/drawing/2014/main" id="{AF8B7258-7CF6-B6F4-524C-F9A1C4183983}"/>
              </a:ext>
            </a:extLst>
          </p:cNvPr>
          <p:cNvSpPr/>
          <p:nvPr/>
        </p:nvSpPr>
        <p:spPr>
          <a:xfrm>
            <a:off x="6474620" y="4131145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58" name="Flowchart: Terminator 57">
            <a:extLst>
              <a:ext uri="{FF2B5EF4-FFF2-40B4-BE49-F238E27FC236}">
                <a16:creationId xmlns:a16="http://schemas.microsoft.com/office/drawing/2014/main" id="{F3C32359-80AE-1649-DADC-5C45B43C25C2}"/>
              </a:ext>
            </a:extLst>
          </p:cNvPr>
          <p:cNvSpPr/>
          <p:nvPr/>
        </p:nvSpPr>
        <p:spPr>
          <a:xfrm>
            <a:off x="9184620" y="4127669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59" name="Flowchart: Terminator 58">
            <a:extLst>
              <a:ext uri="{FF2B5EF4-FFF2-40B4-BE49-F238E27FC236}">
                <a16:creationId xmlns:a16="http://schemas.microsoft.com/office/drawing/2014/main" id="{52A2D93F-AF26-D949-1839-51B7670AEC84}"/>
              </a:ext>
            </a:extLst>
          </p:cNvPr>
          <p:cNvSpPr/>
          <p:nvPr/>
        </p:nvSpPr>
        <p:spPr>
          <a:xfrm>
            <a:off x="9289056" y="5887294"/>
            <a:ext cx="528828" cy="208037"/>
          </a:xfrm>
          <a:prstGeom prst="flowChartTermina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8431195-A989-F38F-5895-B7EF5C1913C7}"/>
              </a:ext>
            </a:extLst>
          </p:cNvPr>
          <p:cNvSpPr/>
          <p:nvPr/>
        </p:nvSpPr>
        <p:spPr>
          <a:xfrm>
            <a:off x="431292" y="1504158"/>
            <a:ext cx="1300734" cy="45850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Raw intensity data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69E5B43-08DF-CC56-1584-E6766008AFA5}"/>
              </a:ext>
            </a:extLst>
          </p:cNvPr>
          <p:cNvSpPr/>
          <p:nvPr/>
        </p:nvSpPr>
        <p:spPr>
          <a:xfrm>
            <a:off x="2618664" y="1509479"/>
            <a:ext cx="2378862" cy="4585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Converts raw intensity signals into genotype calls using DRAGEN Array.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DA04322-21BC-FF25-710B-AEE148A3477B}"/>
              </a:ext>
            </a:extLst>
          </p:cNvPr>
          <p:cNvSpPr/>
          <p:nvPr/>
        </p:nvSpPr>
        <p:spPr>
          <a:xfrm>
            <a:off x="5807202" y="1504159"/>
            <a:ext cx="2378862" cy="4585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Converts genotype calls into Variant Call Format (VCF) files.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BEAF669-25C0-C2B6-46D8-44E0031DCD32}"/>
              </a:ext>
            </a:extLst>
          </p:cNvPr>
          <p:cNvSpPr/>
          <p:nvPr/>
        </p:nvSpPr>
        <p:spPr>
          <a:xfrm>
            <a:off x="8939784" y="1509479"/>
            <a:ext cx="2378862" cy="4585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Combines all individual sample VCF files into a single multi-sample VCF.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DD9216E-9D3F-1F1F-9C68-72DC5591EC6D}"/>
              </a:ext>
            </a:extLst>
          </p:cNvPr>
          <p:cNvSpPr/>
          <p:nvPr/>
        </p:nvSpPr>
        <p:spPr>
          <a:xfrm>
            <a:off x="8985523" y="3152274"/>
            <a:ext cx="2871198" cy="4585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Converts merged VCF data into PLINK binary format.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4DFD229-4692-63A0-3E62-4FBB2E0AA675}"/>
              </a:ext>
            </a:extLst>
          </p:cNvPr>
          <p:cNvSpPr/>
          <p:nvPr/>
        </p:nvSpPr>
        <p:spPr>
          <a:xfrm>
            <a:off x="6434328" y="3148033"/>
            <a:ext cx="1673352" cy="4585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Removes low-quality SNPs and samples using standard QC filters.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C7AAABB-CE14-E3A7-703F-E1D0D5EE50D1}"/>
              </a:ext>
            </a:extLst>
          </p:cNvPr>
          <p:cNvSpPr/>
          <p:nvPr/>
        </p:nvSpPr>
        <p:spPr>
          <a:xfrm>
            <a:off x="3516597" y="3148033"/>
            <a:ext cx="2113061" cy="4585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Identifies closely related individuals in the dataset.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38340FE-3F17-ACAD-C95B-5EDF8DD2F736}"/>
              </a:ext>
            </a:extLst>
          </p:cNvPr>
          <p:cNvSpPr/>
          <p:nvPr/>
        </p:nvSpPr>
        <p:spPr>
          <a:xfrm>
            <a:off x="219469" y="3137892"/>
            <a:ext cx="2492458" cy="4585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Detects population structure and removes outlier samples.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AEBA6DA-2635-05E1-F7E0-D1407ED785DA}"/>
              </a:ext>
            </a:extLst>
          </p:cNvPr>
          <p:cNvSpPr/>
          <p:nvPr/>
        </p:nvSpPr>
        <p:spPr>
          <a:xfrm>
            <a:off x="219469" y="4800326"/>
            <a:ext cx="2399195" cy="4585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Splits the last QC dataset into separate chromosome files (Chr1–Chr22).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0FE31F7-118F-62AA-7EF1-280EACB7065F}"/>
              </a:ext>
            </a:extLst>
          </p:cNvPr>
          <p:cNvSpPr/>
          <p:nvPr/>
        </p:nvSpPr>
        <p:spPr>
          <a:xfrm>
            <a:off x="3418002" y="4800326"/>
            <a:ext cx="2264132" cy="4585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Aligns genotypes with the reference panel before imputation.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881D548-581E-199E-EF13-BD6428F64DEA}"/>
              </a:ext>
            </a:extLst>
          </p:cNvPr>
          <p:cNvSpPr/>
          <p:nvPr/>
        </p:nvSpPr>
        <p:spPr>
          <a:xfrm>
            <a:off x="6502052" y="4800060"/>
            <a:ext cx="1862650" cy="4585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Predicts untyped genetic variants using a reference population panel.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CE90B71-3682-64DB-6184-0E8689402F00}"/>
              </a:ext>
            </a:extLst>
          </p:cNvPr>
          <p:cNvSpPr/>
          <p:nvPr/>
        </p:nvSpPr>
        <p:spPr>
          <a:xfrm>
            <a:off x="9197890" y="4793512"/>
            <a:ext cx="2264132" cy="4585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Filters low-confidence imputed variants based on quality metrics.</a:t>
            </a:r>
          </a:p>
        </p:txBody>
      </p:sp>
    </p:spTree>
    <p:extLst>
      <p:ext uri="{BB962C8B-B14F-4D97-AF65-F5344CB8AC3E}">
        <p14:creationId xmlns:p14="http://schemas.microsoft.com/office/powerpoint/2010/main" val="3836296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E997-FB7E-18C9-B519-90F011B8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33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Install Dragen Array Tool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1A35-FE2F-BD58-4C50-BEB946692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63800"/>
            <a:ext cx="10515600" cy="268922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Go to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https://help.dragenarray.illumina.com/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this website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Click on </a:t>
            </a: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DRAGEN Array Local Analysis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this option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After that click on </a:t>
            </a: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Illumina Support Site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DRAGEN Array Linux Installer – For Linux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DRAGEN Array Windows Installer – For Windows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49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98D5-12E9-4953-0423-6B6AB9031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434" y="1439926"/>
            <a:ext cx="9811131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 :- Extract files to install DRAGENA tool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E7167-428A-3ADC-7287-F59AAFA73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434" y="2918714"/>
            <a:ext cx="10515600" cy="1964182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Unzip that installer folder (DRAGEN Array Linux Installer – For Linux)</a:t>
            </a:r>
          </a:p>
          <a:p>
            <a:pPr marL="0" indent="0">
              <a:buNone/>
            </a:pP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In Linux use command – </a:t>
            </a: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tar -</a:t>
            </a:r>
            <a:r>
              <a:rPr lang="en-US" sz="2600" b="1" dirty="0" err="1">
                <a:latin typeface="Cambria" panose="02040503050406030204" pitchFamily="18" charset="0"/>
                <a:ea typeface="Cambria" panose="02040503050406030204" pitchFamily="18" charset="0"/>
              </a:rPr>
              <a:t>xvzf</a:t>
            </a: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 filename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to extract folder</a:t>
            </a:r>
            <a:endParaRPr lang="en-US" sz="2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In windows – simply extract </a:t>
            </a:r>
            <a:r>
              <a:rPr lang="en-US" sz="2600">
                <a:latin typeface="Cambria" panose="02040503050406030204" pitchFamily="18" charset="0"/>
                <a:ea typeface="Cambria" panose="02040503050406030204" pitchFamily="18" charset="0"/>
              </a:rPr>
              <a:t>the folder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52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C2E4-0570-44B0-0B8F-B16ACB26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4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3 :- DRAGENA tool setup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149C3-0287-ECB3-3D0D-805465BF4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0900"/>
            <a:ext cx="10744200" cy="435133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Add dragena folder to path (wsl)</a:t>
            </a: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Command :- 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xport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PATH=$PATH:/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/c/Users/admin/Desktop/beadchip_illumina_project_19_May_2026/dragena-linux-x64-DAv1.4.0-rc2-sha.9b051a4be2c6ade41bfa804c3bccc41cdbdc1c5b/dragena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Verify installation using </a:t>
            </a: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Command :-</a:t>
            </a:r>
          </a:p>
          <a:p>
            <a:pPr marL="0" indent="0">
              <a:buNone/>
            </a:pP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dragena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--help</a:t>
            </a:r>
          </a:p>
        </p:txBody>
      </p:sp>
    </p:spTree>
    <p:extLst>
      <p:ext uri="{BB962C8B-B14F-4D97-AF65-F5344CB8AC3E}">
        <p14:creationId xmlns:p14="http://schemas.microsoft.com/office/powerpoint/2010/main" val="1409079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D3B9-5E1A-0C5B-EF93-CC0344B0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047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4 :- Download 37 build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fasta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file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92C49-FCC3-D2AD-FF26-4D64ACFF6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0975"/>
            <a:ext cx="10515600" cy="4351338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Go to </a:t>
            </a:r>
            <a:r>
              <a:rPr lang="en-US" u="sng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https://support.illumina.com/array/array_software/dragen-array-secondary-analysis/downloads.html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this link and download </a:t>
            </a:r>
            <a:r>
              <a:rPr lang="en-IN" u="sng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GRCh37 FASTA and Index Files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Reference genome sequence required for VCF conversion.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657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D832-735F-ADA7-7B3D-A2344149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5" y="104616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5 :- Download manifest file (.csv)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56D7-620C-26AF-2876-06F98935F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275" y="250666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Go to </a:t>
            </a:r>
            <a:r>
              <a:rPr lang="en-US" sz="2400" u="sng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https://support.illumina.com/downloads/humanomniexpress-24-v1-0-product-files.html</a:t>
            </a:r>
            <a:r>
              <a:rPr lang="en-US" sz="24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website and download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HumanOmniExpress-24 v1.0 Manifest File (CSV Format)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32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F65-7006-06A3-7065-7D1DF49E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365125"/>
            <a:ext cx="11548872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6 :- Convert (.idat) format file to (.gtc) format file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26A26-3DC4-B2B4-4C13-D35C05EC2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045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Files used for this conversion :- </a:t>
            </a:r>
          </a:p>
          <a:p>
            <a:pPr lvl="1">
              <a:buFontTx/>
              <a:buChar char="-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Manifest file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 GSAv3Confluence_20032937X371431_A2.bpm</a:t>
            </a:r>
          </a:p>
          <a:p>
            <a:pPr lvl="1">
              <a:buFontTx/>
              <a:buChar char="-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Cluster file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 GSAv3Confluence_Final_v3.egt</a:t>
            </a:r>
          </a:p>
          <a:p>
            <a:pPr lvl="1">
              <a:buFontTx/>
              <a:buChar char="-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Sample sheet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 .csv</a:t>
            </a:r>
          </a:p>
          <a:p>
            <a:pPr lvl="1">
              <a:buFontTx/>
              <a:buChar char="-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Command :-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dragena genotype call \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--bpm-manifest GSAv3Confluence_20032937X371431_A2.bpm \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--cluster-file GSAv3Confluence_Final_v3.egt \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--sample-sheet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.csv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\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--idat-folder IDATs \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--output-folder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output_gtc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5001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2ACD-7A4D-2C47-CA1A-09524013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7FCA-8090-E803-9B2E-269B1C2B8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1164824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7 :- Convert (.gtc) format file to (.vcf) format file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78F5B-2BAA-7EFF-0C5C-59C849FCC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045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Files used for this conversion :- </a:t>
            </a:r>
          </a:p>
          <a:p>
            <a:pPr lvl="1">
              <a:buFontTx/>
              <a:buChar char="-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Manifest file (.bpm)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 GSAv3Confluence_20032937X371431_A2.bpm</a:t>
            </a:r>
          </a:p>
          <a:p>
            <a:pPr lvl="1">
              <a:buFontTx/>
              <a:buChar char="-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Manifest file (.csv)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 GSAv3Confluence_20032937X371431_A2.csv</a:t>
            </a:r>
          </a:p>
          <a:p>
            <a:pPr lvl="1">
              <a:buFontTx/>
              <a:buChar char="-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Reference Fasta File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 (GRCh37_genome.fa, GRCh37_genome.fa.fai)</a:t>
            </a:r>
          </a:p>
          <a:p>
            <a:pPr lvl="1">
              <a:buFontTx/>
              <a:buChar char="-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Command :-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dragena genotype gtc-to-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vcf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\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--bpm-manifest GSAv3Confluence_20032937X371431_A2.bpm \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--csv-manifest GSAv3Confluence_20032937X371431_A2.csv \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--genome-fasta-file genome.fa \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--gtc-folder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output_gtc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\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--output-folder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output_vcf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199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6FD9-1844-4B20-DC6A-BEE7ED9E4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145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8 :- Collect all VCF files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0366C-8186-36F7-E78B-D309A6838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01950"/>
            <a:ext cx="8863584" cy="139382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Create new folder and copy all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VCF files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which are converted from .gtc files to .vcf files, to new folder.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321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80A0-153C-55D0-95F0-583D5B38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275" y="46570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9 :- Make list of names of VCF files 	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B632F-968B-79C8-D7C1-4EB37882A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275" y="227368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Create text file containing names of all VCF files.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Command:- 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 find . </a:t>
            </a:r>
            <a:r>
              <a:rPr lang="en-US" sz="2400">
                <a:latin typeface="Cambria" panose="02040503050406030204" pitchFamily="18" charset="0"/>
                <a:ea typeface="Cambria" panose="02040503050406030204" pitchFamily="18" charset="0"/>
              </a:rPr>
              <a:t>-name "*.vcf.gz" | sed 's|^\./||' &gt; vcf_list.txt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command generates a text file containing all .vcf.gz files name list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607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3FC91-CEAA-F19C-4312-E030DB4F8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5D6C-9B0D-1226-FCE5-B9543D78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435" y="72174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10 :- Count vcf files	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DC6B4-3A84-2FF5-C909-94AEAFAF5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5435" y="2182241"/>
            <a:ext cx="10515600" cy="305117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Command:- 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wc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-l vcf_list.txt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command is use to check how many sample are there in folder.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208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1F3C-BE7C-8CD4-E977-E3EDAFC6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C3C34-5ADD-7446-3681-D1E5A3D6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275" y="1508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11 :- Merge VCF files	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708D9-947A-203E-C5EF-08D758827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275" y="2968625"/>
            <a:ext cx="10515600" cy="305117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Command:- 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bcftools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merge -l vcf_list.txt -Oz -o merged.vcf.gz</a:t>
            </a:r>
          </a:p>
        </p:txBody>
      </p:sp>
    </p:spTree>
    <p:extLst>
      <p:ext uri="{BB962C8B-B14F-4D97-AF65-F5344CB8AC3E}">
        <p14:creationId xmlns:p14="http://schemas.microsoft.com/office/powerpoint/2010/main" val="1747641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D7376-E59D-0075-CDAB-1DA64822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E5A33-EFC0-AE1C-3673-FD8589A7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508125"/>
            <a:ext cx="10582275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12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an index file (.</a:t>
            </a:r>
            <a:r>
              <a:rPr lang="en-IN" sz="3600" b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tbi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for merged VCF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4363C-AAE2-4B82-1636-379E819BF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275" y="2968625"/>
            <a:ext cx="10515600" cy="305117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Command:- 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bcftools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index -t merged.vcf.gz</a:t>
            </a:r>
          </a:p>
        </p:txBody>
      </p:sp>
    </p:spTree>
    <p:extLst>
      <p:ext uri="{BB962C8B-B14F-4D97-AF65-F5344CB8AC3E}">
        <p14:creationId xmlns:p14="http://schemas.microsoft.com/office/powerpoint/2010/main" val="110512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8E19C-7494-351E-60E0-531E8636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0D9F-6F84-DDB6-A503-A12B13A4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508125"/>
            <a:ext cx="10582275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13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Verify final sample count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98718-FC19-EA10-19A5-CD6D87782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275" y="2968625"/>
            <a:ext cx="10515600" cy="305117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Command:- 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bcftools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query -l merged.vcf.gz |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wc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-l</a:t>
            </a:r>
          </a:p>
        </p:txBody>
      </p:sp>
    </p:spTree>
    <p:extLst>
      <p:ext uri="{BB962C8B-B14F-4D97-AF65-F5344CB8AC3E}">
        <p14:creationId xmlns:p14="http://schemas.microsoft.com/office/powerpoint/2010/main" val="3318417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5F054-8E2B-F8C9-49B4-37744331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E35F-E565-BC44-79ED-0DED2C619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1508125"/>
            <a:ext cx="10582275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14 :- Convert Merge vcf into .bed file format	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84D51-0004-EAA6-E798-7618A1F04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050" y="2968626"/>
            <a:ext cx="10515600" cy="16510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Command:- (in plink)</a:t>
            </a: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plink --vcf merged.vcf.gz --make-bed --out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output_file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90834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C3061-2B8A-8E49-28E9-30D8F5D2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45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15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Quality Control (QC) Filters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76C8A3-1609-DC2F-CB60-351FFA9EC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771159"/>
              </p:ext>
            </p:extLst>
          </p:nvPr>
        </p:nvGraphicFramePr>
        <p:xfrm>
          <a:off x="1485899" y="2619374"/>
          <a:ext cx="9220201" cy="2930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55">
                  <a:extLst>
                    <a:ext uri="{9D8B030D-6E8A-4147-A177-3AD203B41FA5}">
                      <a16:colId xmlns:a16="http://schemas.microsoft.com/office/drawing/2014/main" val="3106465932"/>
                    </a:ext>
                  </a:extLst>
                </a:gridCol>
                <a:gridCol w="4935535">
                  <a:extLst>
                    <a:ext uri="{9D8B030D-6E8A-4147-A177-3AD203B41FA5}">
                      <a16:colId xmlns:a16="http://schemas.microsoft.com/office/drawing/2014/main" val="1140514217"/>
                    </a:ext>
                  </a:extLst>
                </a:gridCol>
                <a:gridCol w="3293711">
                  <a:extLst>
                    <a:ext uri="{9D8B030D-6E8A-4147-A177-3AD203B41FA5}">
                      <a16:colId xmlns:a16="http://schemas.microsoft.com/office/drawing/2014/main" val="3585503365"/>
                    </a:ext>
                  </a:extLst>
                </a:gridCol>
              </a:tblGrid>
              <a:tr h="57216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Sr No</a:t>
                      </a:r>
                      <a:endParaRPr lang="en-IN" sz="2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QC Step</a:t>
                      </a:r>
                      <a:endParaRPr lang="en-IN" sz="2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Plink command</a:t>
                      </a:r>
                      <a:endParaRPr lang="en-IN" sz="2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578180"/>
                  </a:ext>
                </a:extLst>
              </a:tr>
              <a:tr h="64185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Genotype missingness filter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--geno 0.05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997747"/>
                  </a:ext>
                </a:extLst>
              </a:tr>
              <a:tr h="57216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Hardy-Weinberg Equilibrium filter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--hwe 0.000001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42848"/>
                  </a:ext>
                </a:extLst>
              </a:tr>
              <a:tr h="57216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Minor Allele Frequency filter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--maf 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483885"/>
                  </a:ext>
                </a:extLst>
              </a:tr>
              <a:tr h="57216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Sample missingness filter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--mind 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714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518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4F2AC-EBC9-3EE4-E7FA-92CD6E3E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65125"/>
            <a:ext cx="107061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16 :- Apply --missing on (--mind 0.05) dataset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607B-7976-1425-2325-56C9F0A3E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Calculates missing genotype rates for both samples and SNPs.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Command : </a:t>
            </a:r>
          </a:p>
          <a:p>
            <a:pPr marL="457200" lvl="1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plink --bfile bed_file(--mind 0.05 dataset) --missing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--out output_file</a:t>
            </a:r>
          </a:p>
          <a:p>
            <a:pPr marL="457200" lvl="1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Output Files : </a:t>
            </a:r>
          </a:p>
          <a:p>
            <a:pPr marL="0" lv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.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imiss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: Sample wise missingness report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.</a:t>
            </a:r>
            <a:r>
              <a:rPr lang="en-US" sz="2400">
                <a:latin typeface="Cambria" panose="02040503050406030204" pitchFamily="18" charset="0"/>
                <a:ea typeface="Cambria" panose="02040503050406030204" pitchFamily="18" charset="0"/>
              </a:rPr>
              <a:t>lmiss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 SNP wise missingness report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Find call rate from F_MISS column using (1-F_MISS).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460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94B2-7078-DE94-5DE2-5553781F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17 :- Cryptic relatedness analysis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CEA6-330C-C8C0-7A5A-8D3D70D6C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050"/>
            <a:ext cx="11106150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Plink commands :-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plink --bfile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bed_files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--genome --min 0.48 --out output_file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Check genome file output, Remove that sample which call rate is not near to 0.999.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Create text file containing FID IID of that sample which we have to remove from last QC performed dataset (--mind 0.05)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Then run plink command : 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plink --bfile bed_file --remove sample_list.txt --make-bed –out output_file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507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98BD-091A-9BB0-556F-74BD8593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18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Principal Component Analysis (PCA)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396ED-2400-E92E-9909-C6E90CB6C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Create .par file to convert .bed, .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bim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, .fam datasets into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eigenstrat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 format.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Command:- nano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plink_to_eigen.par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genotypename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data_files.bed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snpname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data_files.bim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indivname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data_files.fam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outputformat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EIGENSTRAT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genotypeoutname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data_files.geno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snpoutname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data_files.snp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indivoutname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data_files.ind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familynames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NO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After creating file run below command to convert into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eigenstrat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format.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Command :- convert –p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plink_to_eigen.par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883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4856-0443-6BBE-D2AA-FA629A57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2F1AB-C119-3767-688A-52F7509A5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025" y="996950"/>
            <a:ext cx="10515600" cy="576580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create the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SmartPCA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parameter file (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smartpca.par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) for running PCA. </a:t>
            </a:r>
          </a:p>
          <a:p>
            <a:pPr marL="0" indent="0">
              <a:buNone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Command:- nano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smartpca.par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genotypename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data_files.geno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snpname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data_files.snp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indivname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data_files.ind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evecoutname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data_pca.evec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evaloutname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data_pca.eval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outlieroutname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data_pca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 outliers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numoutevec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numoutlieriter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5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outliermode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1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snpweightoutname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	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data_pca.snpweight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Now run PCA command: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smartpca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-p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smartpca.par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| tee -a 1_mydata_new_pca.log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727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E190-9387-F688-CE7E-5BFE108AC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19 :- Remove outliers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2B6E5-6C74-CBF0-A3AE-39B179107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Now copy FID and IID from outliers file and paste in new text file, make a new list in .txt format including column FID IID.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list is of those samples which we have to remove.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Command in plink: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	plink --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bfile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bed_file_dataset_of_latest_QC</a:t>
            </a:r>
            <a:b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	           --remove FID_IID_file.txt</a:t>
            </a:r>
            <a:b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	           --make-bed</a:t>
            </a:r>
            <a:b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	           --out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output_filename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834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3A52-385A-D29C-0B7A-BD974E8D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20 :- Split QC dataset chromosome wise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191E-82A2-0EAC-C04A-AA4429A09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3725" y="1611313"/>
            <a:ext cx="10515600" cy="5053012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plink: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plink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--bfile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bed_files_dataset</a:t>
            </a:r>
            <a:b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--chr 1 </a:t>
            </a:r>
            <a:b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--make-bed </a:t>
            </a:r>
            <a:b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--out chr1_data</a:t>
            </a:r>
          </a:p>
          <a:p>
            <a:pPr marL="457200" lvl="1" indent="0"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wsl: (in loop)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for i in {1..22}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do  /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mnt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/c/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plink_tool_folder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/plink.exe \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--bfile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bed_files_dataset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\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--chr $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\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--make-bed \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--out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GSA_chr$i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627137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3572-B19B-732B-1F89-9BEAB72C9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365125"/>
            <a:ext cx="11439524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21 :- Convert chromosome wise BED files into VCF format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5D61-7029-43D0-12F6-6FF81F083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0775" y="1403350"/>
            <a:ext cx="9324975" cy="5330825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plink: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plink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--bfile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bed_files_dataset</a:t>
            </a:r>
            <a:b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--recode vcf</a:t>
            </a:r>
            <a:b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--make-bed </a:t>
            </a:r>
            <a:b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--out chr1_dataset</a:t>
            </a:r>
          </a:p>
          <a:p>
            <a:pPr marL="457200" lvl="1" indent="0"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wsl: (in loop)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for i in {1..22}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do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echo "====================================="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echo "Converting chromosome $i to VCF..."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echo "====================================="</a:t>
            </a:r>
          </a:p>
          <a:p>
            <a:pPr marL="457200" lvl="1" indent="0">
              <a:buNone/>
            </a:pPr>
            <a:endParaRPr lang="nn-NO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/mnt/c/Dinesh_Yadav_2026/plink_tool_folder/plink.exe \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--bfile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bed_files_dataset</a:t>
            </a: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\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--recode vcf \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--out GSA_split_chromo_chr$i</a:t>
            </a:r>
          </a:p>
          <a:p>
            <a:pPr marL="457200" lvl="1" indent="0">
              <a:buNone/>
            </a:pPr>
            <a:endParaRPr lang="nn-NO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echo "Chromosome $i conversion completed."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echo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done</a:t>
            </a:r>
          </a:p>
          <a:p>
            <a:pPr marL="457200" lvl="1" indent="0">
              <a:buNone/>
            </a:pPr>
            <a:endParaRPr lang="nn-NO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echo "All chromosomes (1-22) converted successfully."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100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2709-F705-0A3B-7360-58758644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22 :- Compress VCF files to .vcf.gz using bgzip command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48A51-D28B-D893-C794-5A983357C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wsl: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bgzip -c chr1_vcf_data.vcf &gt; chr1_vcf_data.vcf.gz</a:t>
            </a:r>
          </a:p>
          <a:p>
            <a:pPr marL="457200" lvl="1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wsl: (in loop)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for i in {1..22}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do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echo "Compressing chromosome $i..."</a:t>
            </a:r>
          </a:p>
          <a:p>
            <a:pPr marL="457200" lvl="1" indent="0">
              <a:buNone/>
            </a:pPr>
            <a:endParaRPr lang="nn-NO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bgzip -c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chr$i_vcf_data</a:t>
            </a: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.vcf &gt;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chr$i_vcf_data</a:t>
            </a: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.vcf.gz</a:t>
            </a:r>
          </a:p>
          <a:p>
            <a:pPr marL="457200" lvl="1" indent="0">
              <a:buNone/>
            </a:pPr>
            <a:endParaRPr lang="nn-NO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echo "Chromosome $i compressed."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done</a:t>
            </a:r>
          </a:p>
          <a:p>
            <a:pPr marL="457200" lvl="1" indent="0">
              <a:buNone/>
            </a:pPr>
            <a:endParaRPr lang="nn-NO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echo "All chromosomes compressed."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661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AD877-8808-50F9-CAE9-44864843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27DD-BDCE-083F-EF96-4F3EE8F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23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Indexing the Compressed VCF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7EA1B-D54B-B028-A910-91D661177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wsl: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tabix -p vcf chr1_vcf_data.vcf.gz</a:t>
            </a:r>
          </a:p>
          <a:p>
            <a:pPr marL="457200" lvl="1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wsl: (in loop)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for i in {1..22}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do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echo "Indexing chromosome $i..."</a:t>
            </a:r>
          </a:p>
          <a:p>
            <a:pPr marL="457200" lvl="1" indent="0">
              <a:buNone/>
            </a:pPr>
            <a:endParaRPr lang="nn-NO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tabix -p vcf chr$i_vcf_data.vcf.gz</a:t>
            </a:r>
          </a:p>
          <a:p>
            <a:pPr marL="457200" lvl="1" indent="0">
              <a:buNone/>
            </a:pPr>
            <a:endParaRPr lang="nn-NO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  echo "Chromosome $i indexed."</a:t>
            </a: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done</a:t>
            </a:r>
          </a:p>
          <a:p>
            <a:pPr marL="457200" lvl="1" indent="0">
              <a:buNone/>
            </a:pPr>
            <a:endParaRPr lang="nn-NO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nn-NO" sz="1800" dirty="0">
                <a:latin typeface="Cambria" panose="02040503050406030204" pitchFamily="18" charset="0"/>
                <a:ea typeface="Cambria" panose="02040503050406030204" pitchFamily="18" charset="0"/>
              </a:rPr>
              <a:t>echo "All chromosomes indexed."</a:t>
            </a:r>
          </a:p>
        </p:txBody>
      </p:sp>
    </p:spTree>
    <p:extLst>
      <p:ext uri="{BB962C8B-B14F-4D97-AF65-F5344CB8AC3E}">
        <p14:creationId xmlns:p14="http://schemas.microsoft.com/office/powerpoint/2010/main" val="19587798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333A-20F7-374A-033F-2BDDD057F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458575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24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Conform-GT alignment with reference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377E-7CD3-89F2-270F-1BEB14A13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475" y="2141537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Download alignment tool: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conform-gt.24May16.cee.jar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Website 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https://faculty.washington.edu/browning/conform-gt.html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Download Reference files: 1000 genome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486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58104-5B31-3483-43C2-F1841F202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525"/>
            <a:ext cx="10515600" cy="303847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wsl:</a:t>
            </a: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java -Xmx4g \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-jar /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/c/Dinesh_Yadav_2026/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Beagle_jar_files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/conform-gt.24May16.cee.jar \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chr1_vcf_data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.vcf.gz \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ref=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reference_file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chr_vcf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/ref_chr1.vcf.gz \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chrom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=1 \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out=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chr1_vcf_data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_aligned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513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072A8-C846-B924-6EE4-BB1D8EE24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550"/>
            <a:ext cx="10515600" cy="6553200"/>
          </a:xfrm>
        </p:spPr>
        <p:txBody>
          <a:bodyPr>
            <a:normAutofit fontScale="92500" lnSpcReduction="10000"/>
          </a:bodyPr>
          <a:lstStyle/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wsl: (in loop)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in {1..22}</a:t>
            </a: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do</a:t>
            </a: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echo "====================================="</a:t>
            </a: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echo "Aligning chromosome $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..."</a:t>
            </a: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echo "====================================="</a:t>
            </a:r>
          </a:p>
          <a:p>
            <a:pPr marL="0" indent="0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java -Xmx4g \</a:t>
            </a:r>
            <a:b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-jar /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mnt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/c/Dinesh_Yadav_2026/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Beagle_jar_files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/conform-gt.24May16.cee.jar \</a:t>
            </a:r>
            <a:b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gt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chr1_vcf_data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.vcf.gz \</a:t>
            </a:r>
            <a:b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ref=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reference_file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chr_vcf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/ref_chr1.vcf.gz \</a:t>
            </a:r>
            <a:b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chrom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=1 \</a:t>
            </a:r>
            <a:b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out=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chr1_vcf_data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_aligned</a:t>
            </a:r>
          </a:p>
          <a:p>
            <a:pPr marL="0" indent="0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echo "Chromosome $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alignment completed."</a:t>
            </a: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echo</a:t>
            </a: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done</a:t>
            </a:r>
          </a:p>
          <a:p>
            <a:pPr marL="0" indent="0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echo "All chromosomes (1-22) aligned successfully."</a:t>
            </a: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=====================================</a:t>
            </a: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Aligning chromosome 1 ...</a:t>
            </a:r>
          </a:p>
          <a:p>
            <a:pPr marL="0" indent="0"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=====================================</a:t>
            </a:r>
          </a:p>
        </p:txBody>
      </p:sp>
    </p:spTree>
    <p:extLst>
      <p:ext uri="{BB962C8B-B14F-4D97-AF65-F5344CB8AC3E}">
        <p14:creationId xmlns:p14="http://schemas.microsoft.com/office/powerpoint/2010/main" val="3357658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25EE0-F1D8-0079-DF07-ED26593D0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0135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25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Beagle imputation for each chromosome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2BFFA-6D78-76A9-B9B9-1F07318AE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Download alignment tool: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400" dirty="0">
                <a:hlinkClick r:id="rId2"/>
              </a:rPr>
              <a:t>beagle.27Feb25.75f.jar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Website 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https://faculty.washington.edu/browning/beagle/beagle.html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Download Reference files: https://bochet.gcc.biostat.washington.edu/beagle/1000_Genomes_phase3_v5a/b37.bref3/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0841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4FA84-95A2-1173-59BA-C1E01BDC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F7034-6136-9F9A-7CC3-560C500BF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8799"/>
            <a:ext cx="10515600" cy="611822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java -Xmx4g \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-jar /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mnt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/c/Dinesh_Yadav_2026/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Beagle_jar_files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/beagle.27Feb25.75f.jar \</a:t>
            </a:r>
          </a:p>
          <a:p>
            <a:pPr marL="0" indent="0">
              <a:buNone/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= chr1_vcf_data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_aligned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.vcf.gz \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ref=reference_file1/chr1.1kg.phase3.v5a.b37.bref3 \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out=split_chromo_chr1_imputed</a:t>
            </a:r>
          </a:p>
        </p:txBody>
      </p:sp>
    </p:spTree>
    <p:extLst>
      <p:ext uri="{BB962C8B-B14F-4D97-AF65-F5344CB8AC3E}">
        <p14:creationId xmlns:p14="http://schemas.microsoft.com/office/powerpoint/2010/main" val="42299647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CCF76-092F-7FA4-63FC-74D6065C8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564F1-4F8C-5CF2-5849-09CE37593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558799"/>
            <a:ext cx="10715625" cy="6118225"/>
          </a:xfrm>
        </p:spPr>
        <p:txBody>
          <a:bodyPr>
            <a:normAutofit fontScale="77500" lnSpcReduction="20000"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: (in loop)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in {1..3}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do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echo "====================================="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echo "Imputing chromosome $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..."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echo "====================================="</a:t>
            </a:r>
          </a:p>
          <a:p>
            <a:pPr marL="0" indent="0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java -Xmx4g \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-jar /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mnt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/c/Dinesh_Yadav_2026/New_Data_19_May_2026/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Beagle_jar_files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/beagle.27Feb25.75f.jar \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gt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chr${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400">
                <a:latin typeface="Cambria" panose="02040503050406030204" pitchFamily="18" charset="0"/>
                <a:ea typeface="Cambria" panose="02040503050406030204" pitchFamily="18" charset="0"/>
              </a:rPr>
              <a:t>}_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vcf_data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_aligned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.vcf.gz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\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ref=reference_file1/chr${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}.1kg.phase3.v5a.b37.bref3 \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out=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split_chromo_chr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${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}_imputed</a:t>
            </a:r>
          </a:p>
          <a:p>
            <a:pPr marL="0" indent="0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echo "Chromosome $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imputation completed."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echo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done</a:t>
            </a:r>
          </a:p>
          <a:p>
            <a:pPr marL="0" indent="0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echo "All chromosomes (3-5) imputed successfully."</a:t>
            </a:r>
          </a:p>
        </p:txBody>
      </p:sp>
    </p:spTree>
    <p:extLst>
      <p:ext uri="{BB962C8B-B14F-4D97-AF65-F5344CB8AC3E}">
        <p14:creationId xmlns:p14="http://schemas.microsoft.com/office/powerpoint/2010/main" val="41715694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50DEA-9E1A-FACC-7546-6605ACA8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26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Indexing all imputed files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D6D24-FCBB-C883-408D-B9FEB592F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wsl: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tabix -p vcf split_chromo_chr1_imputed.vcf.gz</a:t>
            </a:r>
          </a:p>
          <a:p>
            <a:pPr marL="457200" lvl="1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wsl: (in loop)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in {1..22}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do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echo "Indexing chromosome $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..."</a:t>
            </a:r>
          </a:p>
          <a:p>
            <a:pPr marL="457200" lvl="1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tabix -p vcf split_chromo_chr${i}_imputed.vcf.gz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echo "Chromosome $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indexed."</a:t>
            </a: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done</a:t>
            </a:r>
          </a:p>
          <a:p>
            <a:pPr marL="457200" lvl="1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echo "All chromosomes indexed."</a:t>
            </a:r>
          </a:p>
          <a:p>
            <a:pPr marL="457200" lvl="1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2431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6E9A-0EB5-FF52-59D3-63FB3D22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27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Create merge list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4F984-63F1-B93E-15D4-51164E91C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Create list containing names of all imputed .vcf.gz files in a text file.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Command: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in {1..22}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do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echo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split_chromo_chr${i}_imputed.vcf.gz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&gt;&gt; merge_list.txt</a:t>
            </a:r>
          </a:p>
          <a:p>
            <a:pPr marL="0" indent="0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3977309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2184B-7092-E600-851E-B946338A2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28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Merge all chromosomes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F7B6D-C5BD-D43E-4812-007E241A2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76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Tool required –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bcftools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Download link -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https://github.com/samtools/bcftools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Download command - git clone https://github.com/samtools/bcftools.git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Merge all chromosomes vcf files.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wsl: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bcftools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concat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\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-f merge_list.txt \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-Oz \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-o Imputed_Merged.vcf.gz</a:t>
            </a:r>
          </a:p>
        </p:txBody>
      </p:sp>
    </p:spTree>
    <p:extLst>
      <p:ext uri="{BB962C8B-B14F-4D97-AF65-F5344CB8AC3E}">
        <p14:creationId xmlns:p14="http://schemas.microsoft.com/office/powerpoint/2010/main" val="20516369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F93D-848B-60EB-CB6F-FD9439F3F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29 :-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Filter variants using R2 &gt;= 0.3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8FA05-3281-08BF-4520-66DBA0E02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Keep only SNPs whose imputation quality score is at least 0.3.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Command in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wsl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bcftools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view \</a:t>
            </a: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'DR2&gt;=0.3' \</a:t>
            </a: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Imputed_Merged.vcf.gz \</a:t>
            </a: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-Oz \</a:t>
            </a: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-o Imputed_Merged_R2_03.vcf.gz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Convert above output file into .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tbi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Command:</a:t>
            </a: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tabix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-p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vcf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Imputed_Merged_R2_03.vcf.gz</a:t>
            </a:r>
          </a:p>
        </p:txBody>
      </p:sp>
    </p:spTree>
    <p:extLst>
      <p:ext uri="{BB962C8B-B14F-4D97-AF65-F5344CB8AC3E}">
        <p14:creationId xmlns:p14="http://schemas.microsoft.com/office/powerpoint/2010/main" val="346568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9224</TotalTime>
  <Words>2867</Words>
  <Application>Microsoft Office PowerPoint</Application>
  <PresentationFormat>Widescreen</PresentationFormat>
  <Paragraphs>370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Cambria</vt:lpstr>
      <vt:lpstr>Office Theme</vt:lpstr>
      <vt:lpstr>Beadchip Project </vt:lpstr>
      <vt:lpstr>Bead-chip Information:-</vt:lpstr>
      <vt:lpstr>Files required for Global screening array-24 + v3.0 HTS NCI custom booster :-</vt:lpstr>
      <vt:lpstr>Genotyping Array and Reference Genome Information:-</vt:lpstr>
      <vt:lpstr>Work Flow :-</vt:lpstr>
      <vt:lpstr>Step 1 :- Install Dragen Array Tool</vt:lpstr>
      <vt:lpstr>Step 2 :- Extract files to install DRAGENA tool</vt:lpstr>
      <vt:lpstr>Step 3 :- DRAGENA tool setup</vt:lpstr>
      <vt:lpstr>Step 4 :- Download 37 build fasta file</vt:lpstr>
      <vt:lpstr>Step 5 :- Download manifest file (.csv)</vt:lpstr>
      <vt:lpstr>Step 6 :- Convert (.idat) format file to (.gtc) format file</vt:lpstr>
      <vt:lpstr>Step 7 :- Convert (.gtc) format file to (.vcf) format file</vt:lpstr>
      <vt:lpstr>Step 8 :- Collect all VCF files</vt:lpstr>
      <vt:lpstr>Step 9 :- Make list of names of VCF files  </vt:lpstr>
      <vt:lpstr>Step 10 :- Count vcf files </vt:lpstr>
      <vt:lpstr>Step 11 :- Merge VCF files </vt:lpstr>
      <vt:lpstr>Step 12 :- Creating an index file (.tbi) for merged VCF </vt:lpstr>
      <vt:lpstr>Step 13 :- Verify final sample count </vt:lpstr>
      <vt:lpstr>Step 14 :- Convert Merge vcf into .bed file format </vt:lpstr>
      <vt:lpstr>Step 15 :- Quality Control (QC) Filters</vt:lpstr>
      <vt:lpstr>Step 16 :- Apply --missing on (--mind 0.05) dataset</vt:lpstr>
      <vt:lpstr>Step 17 :- Cryptic relatedness analysis</vt:lpstr>
      <vt:lpstr>Step 18 :- Principal Component Analysis (PCA)</vt:lpstr>
      <vt:lpstr>PowerPoint Presentation</vt:lpstr>
      <vt:lpstr>Step 19 :- Remove outliers</vt:lpstr>
      <vt:lpstr>Step 20 :- Split QC dataset chromosome wise</vt:lpstr>
      <vt:lpstr>Step 21 :- Convert chromosome wise BED files into VCF format</vt:lpstr>
      <vt:lpstr>Step 22 :- Compress VCF files to .vcf.gz using bgzip command</vt:lpstr>
      <vt:lpstr>Step 23 :- Indexing the Compressed VCF Files</vt:lpstr>
      <vt:lpstr>Step 24 :- Conform-GT alignment with reference panel</vt:lpstr>
      <vt:lpstr>PowerPoint Presentation</vt:lpstr>
      <vt:lpstr>PowerPoint Presentation</vt:lpstr>
      <vt:lpstr>Step 25 :- Beagle imputation for each chromosome</vt:lpstr>
      <vt:lpstr>PowerPoint Presentation</vt:lpstr>
      <vt:lpstr>PowerPoint Presentation</vt:lpstr>
      <vt:lpstr>Step 26 :- Indexing all imputed files</vt:lpstr>
      <vt:lpstr>Step 27 :- Create merge list</vt:lpstr>
      <vt:lpstr>Step 28 :- Merge all chromosomes</vt:lpstr>
      <vt:lpstr>Step 29 :- Filter variants using R2 &gt;= 0.3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63</cp:revision>
  <dcterms:created xsi:type="dcterms:W3CDTF">2026-06-15T04:43:42Z</dcterms:created>
  <dcterms:modified xsi:type="dcterms:W3CDTF">2026-08-10T04:16:27Z</dcterms:modified>
</cp:coreProperties>
</file>